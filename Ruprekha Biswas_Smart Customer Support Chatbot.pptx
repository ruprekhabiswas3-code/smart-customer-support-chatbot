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4"/>
  </p:sldMasterIdLst>
  <p:notesMasterIdLst>
    <p:notesMasterId r:id="rId20"/>
  </p:notesMasterIdLst>
  <p:sldIdLst>
    <p:sldId id="256" r:id="rId5"/>
    <p:sldId id="2146847054" r:id="rId6"/>
    <p:sldId id="262" r:id="rId7"/>
    <p:sldId id="263" r:id="rId8"/>
    <p:sldId id="265" r:id="rId9"/>
    <p:sldId id="266" r:id="rId10"/>
    <p:sldId id="267" r:id="rId11"/>
    <p:sldId id="2146847057" r:id="rId12"/>
    <p:sldId id="2146847058" r:id="rId13"/>
    <p:sldId id="2146847059" r:id="rId14"/>
    <p:sldId id="268" r:id="rId15"/>
    <p:sldId id="2146847055" r:id="rId16"/>
    <p:sldId id="269" r:id="rId17"/>
    <p:sldId id="2146847056" r:id="rId18"/>
    <p:sldId id="25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BA97"/>
    <a:srgbClr val="8E6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8C001DB-1473-4CB2-B656-8ED0BD15FF6E}" v="8" dt="2026-09-12T16:29:54.57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86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uprekha Biswas" userId="56b2f0692c54900f" providerId="LiveId" clId="{4F7F8225-7B7F-4C67-810D-0BB780CB347C}"/>
    <pc:docChg chg="modSld">
      <pc:chgData name="Ruprekha Biswas" userId="56b2f0692c54900f" providerId="LiveId" clId="{4F7F8225-7B7F-4C67-810D-0BB780CB347C}" dt="2026-09-12T16:29:54.555" v="111" actId="20577"/>
      <pc:docMkLst>
        <pc:docMk/>
      </pc:docMkLst>
      <pc:sldChg chg="modSp mod">
        <pc:chgData name="Ruprekha Biswas" userId="56b2f0692c54900f" providerId="LiveId" clId="{4F7F8225-7B7F-4C67-810D-0BB780CB347C}" dt="2026-09-12T16:27:57.477" v="31" actId="732"/>
        <pc:sldMkLst>
          <pc:docMk/>
          <pc:sldMk cId="1483293388" sldId="267"/>
        </pc:sldMkLst>
        <pc:picChg chg="mod modCrop">
          <ac:chgData name="Ruprekha Biswas" userId="56b2f0692c54900f" providerId="LiveId" clId="{4F7F8225-7B7F-4C67-810D-0BB780CB347C}" dt="2026-09-12T16:27:57.477" v="31" actId="732"/>
          <ac:picMkLst>
            <pc:docMk/>
            <pc:sldMk cId="1483293388" sldId="267"/>
            <ac:picMk id="9" creationId="{AA173A3E-B9BB-CE36-9490-AC87C262F9B4}"/>
          </ac:picMkLst>
        </pc:picChg>
      </pc:sldChg>
      <pc:sldChg chg="modSp mod">
        <pc:chgData name="Ruprekha Biswas" userId="56b2f0692c54900f" providerId="LiveId" clId="{4F7F8225-7B7F-4C67-810D-0BB780CB347C}" dt="2026-09-12T16:29:54.555" v="111" actId="20577"/>
        <pc:sldMkLst>
          <pc:docMk/>
          <pc:sldMk cId="258852918" sldId="2146847056"/>
        </pc:sldMkLst>
        <pc:spChg chg="mod">
          <ac:chgData name="Ruprekha Biswas" userId="56b2f0692c54900f" providerId="LiveId" clId="{4F7F8225-7B7F-4C67-810D-0BB780CB347C}" dt="2026-09-12T16:29:54.555" v="111" actId="20577"/>
          <ac:spMkLst>
            <pc:docMk/>
            <pc:sldMk cId="258852918" sldId="2146847056"/>
            <ac:spMk id="3" creationId="{618C47C2-EF01-12B0-99EA-861F9629D1D9}"/>
          </ac:spMkLst>
        </pc:spChg>
      </pc:sldChg>
      <pc:sldChg chg="modSp mod">
        <pc:chgData name="Ruprekha Biswas" userId="56b2f0692c54900f" providerId="LiveId" clId="{4F7F8225-7B7F-4C67-810D-0BB780CB347C}" dt="2026-09-12T16:28:22.865" v="33" actId="732"/>
        <pc:sldMkLst>
          <pc:docMk/>
          <pc:sldMk cId="727519850" sldId="2146847057"/>
        </pc:sldMkLst>
        <pc:picChg chg="mod modCrop">
          <ac:chgData name="Ruprekha Biswas" userId="56b2f0692c54900f" providerId="LiveId" clId="{4F7F8225-7B7F-4C67-810D-0BB780CB347C}" dt="2026-09-12T16:28:22.865" v="33" actId="732"/>
          <ac:picMkLst>
            <pc:docMk/>
            <pc:sldMk cId="727519850" sldId="2146847057"/>
            <ac:picMk id="3" creationId="{E23CC7B5-5DCE-634D-D112-72AF4C9E221D}"/>
          </ac:picMkLst>
        </pc:picChg>
      </pc:sldChg>
      <pc:sldChg chg="modSp mod">
        <pc:chgData name="Ruprekha Biswas" userId="56b2f0692c54900f" providerId="LiveId" clId="{4F7F8225-7B7F-4C67-810D-0BB780CB347C}" dt="2026-09-12T16:25:54.732" v="27" actId="732"/>
        <pc:sldMkLst>
          <pc:docMk/>
          <pc:sldMk cId="3823164403" sldId="2146847058"/>
        </pc:sldMkLst>
        <pc:picChg chg="mod modCrop">
          <ac:chgData name="Ruprekha Biswas" userId="56b2f0692c54900f" providerId="LiveId" clId="{4F7F8225-7B7F-4C67-810D-0BB780CB347C}" dt="2026-09-12T16:25:54.732" v="27" actId="732"/>
          <ac:picMkLst>
            <pc:docMk/>
            <pc:sldMk cId="3823164403" sldId="2146847058"/>
            <ac:picMk id="2" creationId="{C36B9B30-4C5A-6640-95F2-7E9047F6B528}"/>
          </ac:picMkLst>
        </pc:picChg>
      </pc:sldChg>
      <pc:sldChg chg="modSp mod">
        <pc:chgData name="Ruprekha Biswas" userId="56b2f0692c54900f" providerId="LiveId" clId="{4F7F8225-7B7F-4C67-810D-0BB780CB347C}" dt="2026-09-12T16:26:23.094" v="29" actId="732"/>
        <pc:sldMkLst>
          <pc:docMk/>
          <pc:sldMk cId="3475761276" sldId="2146847059"/>
        </pc:sldMkLst>
        <pc:picChg chg="mod modCrop">
          <ac:chgData name="Ruprekha Biswas" userId="56b2f0692c54900f" providerId="LiveId" clId="{4F7F8225-7B7F-4C67-810D-0BB780CB347C}" dt="2026-09-12T16:26:23.094" v="29" actId="732"/>
          <ac:picMkLst>
            <pc:docMk/>
            <pc:sldMk cId="3475761276" sldId="2146847059"/>
            <ac:picMk id="2" creationId="{C4A158E9-7FEE-CEB5-F4ED-CB990FB2B15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256A78-79A6-408F-8148-4F87BB81602D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E254F1-4415-47BF-9E91-C5D4B9A333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8008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9/12/2026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5302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302026"/>
            <a:ext cx="11029615" cy="46733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9/12/2026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9/12/2026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49285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1391479"/>
            <a:ext cx="5194767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1391479"/>
            <a:ext cx="5194769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9/12/2026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59224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9/12/2026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9/12/2026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9/12/2026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9/12/2026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55714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1415198"/>
            <a:ext cx="11029616" cy="45728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9/12/2026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14A64E4D-8DED-7830-2955-1BE78C5B0655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485003" y="6437910"/>
            <a:ext cx="1125805" cy="36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8503/" TargetMode="External"/><Relationship Id="rId2" Type="http://schemas.openxmlformats.org/officeDocument/2006/relationships/hyperlink" Target="https://github.com/ruprekhabiswas3-code/Smart-Customer-Support-Chatbot.git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11E26-4C38-41A6-9857-11032CEECD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48403" y="1619096"/>
            <a:ext cx="9144000" cy="1403056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Smart Customer Support Chatbot</a:t>
            </a:r>
            <a:br>
              <a:rPr lang="en-US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000" dirty="0"/>
              <a:t>PROJECT DOMAIN: Natural Language Processing (NLP) + Generative AI </a:t>
            </a:r>
            <a:br>
              <a:rPr lang="en-IN" sz="2000" dirty="0"/>
            </a:br>
            <a:r>
              <a:rPr lang="en-IN" sz="2000" dirty="0"/>
              <a:t>PROJECT TYPE: NLP + LLM + Web Application</a:t>
            </a:r>
            <a:br>
              <a:rPr lang="en-IN" sz="2000" dirty="0"/>
            </a:br>
            <a:endParaRPr lang="en-US" sz="2000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-329782" y="1034321"/>
            <a:ext cx="12726648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200" b="1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60329" y="3730580"/>
            <a:ext cx="7980183" cy="163121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Presented By:</a:t>
            </a:r>
          </a:p>
          <a:p>
            <a:pPr marL="457200" indent="-457200">
              <a:buAutoNum type="arabicPeriod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Student Name- Ruprekha </a:t>
            </a:r>
            <a:r>
              <a:rPr lang="en-US" sz="2000" b="1" dirty="0" err="1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Biswaas</a:t>
            </a:r>
            <a:endParaRPr lang="en-US" sz="2000" b="1" dirty="0">
              <a:solidFill>
                <a:schemeClr val="accent1">
                  <a:lumMod val="75000"/>
                </a:schemeClr>
              </a:solidFill>
              <a:latin typeface="Arial"/>
              <a:cs typeface="Arial"/>
            </a:endParaRPr>
          </a:p>
          <a:p>
            <a:pPr marL="457200" indent="-457200">
              <a:buAutoNum type="arabicPeriod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College Name- The Heritage Academy</a:t>
            </a:r>
          </a:p>
          <a:p>
            <a:pPr marL="457200" indent="-457200">
              <a:buAutoNum type="arabicPeriod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Department- BBA</a:t>
            </a:r>
          </a:p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4.   AICTE ID- STU696647052e5541768310533</a:t>
            </a:r>
          </a:p>
        </p:txBody>
      </p:sp>
    </p:spTree>
    <p:extLst>
      <p:ext uri="{BB962C8B-B14F-4D97-AF65-F5344CB8AC3E}">
        <p14:creationId xmlns:p14="http://schemas.microsoft.com/office/powerpoint/2010/main" val="953325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FEB4C-F209-4AE7-AA2B-B3C26CE2C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0615" y="550985"/>
            <a:ext cx="10515600" cy="774578"/>
          </a:xfrm>
        </p:spPr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78641-EEA3-4EC4-BF39-4075B0C12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0615" y="1143000"/>
            <a:ext cx="7221416" cy="4572000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000" b="1" dirty="0">
                <a:latin typeface="Arial"/>
                <a:ea typeface="+mn-lt"/>
                <a:cs typeface="Arial"/>
              </a:rPr>
              <a:t>  </a:t>
            </a:r>
            <a:endParaRPr lang="en-US" dirty="0">
              <a:latin typeface="Arial"/>
              <a:cs typeface="Arial"/>
            </a:endParaRP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Problem Statement </a:t>
            </a:r>
            <a:endParaRPr lang="en-US" dirty="0">
              <a:latin typeface="Arial"/>
              <a:cs typeface="Arial"/>
            </a:endParaRP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Proposed System/Solution</a:t>
            </a:r>
            <a:endParaRPr lang="en-US" dirty="0">
              <a:latin typeface="Arial"/>
              <a:cs typeface="Arial"/>
            </a:endParaRPr>
          </a:p>
          <a:p>
            <a:r>
              <a:rPr lang="en-US" sz="2000" b="1" dirty="0">
                <a:latin typeface="Arial"/>
                <a:ea typeface="+mn-lt"/>
                <a:cs typeface="Calibri"/>
              </a:rPr>
              <a:t>System </a:t>
            </a:r>
            <a:r>
              <a:rPr lang="en-US" sz="2000" b="1" dirty="0">
                <a:latin typeface="Arial"/>
                <a:ea typeface="+mn-lt"/>
                <a:cs typeface="+mn-lt"/>
              </a:rPr>
              <a:t>Development Approach </a:t>
            </a:r>
            <a:r>
              <a:rPr lang="en-US" sz="2000" dirty="0">
                <a:latin typeface="Arial"/>
                <a:ea typeface="+mn-lt"/>
                <a:cs typeface="+mn-lt"/>
              </a:rPr>
              <a:t>(Technology Used) </a:t>
            </a:r>
            <a:endParaRPr lang="en-US" dirty="0">
              <a:latin typeface="Arial"/>
              <a:ea typeface="+mn-lt"/>
              <a:cs typeface="+mn-lt"/>
            </a:endParaRPr>
          </a:p>
          <a:p>
            <a:r>
              <a:rPr lang="en-US" sz="2000" b="1" dirty="0">
                <a:latin typeface="Arial"/>
                <a:ea typeface="+mn-lt"/>
                <a:cs typeface="+mn-lt"/>
              </a:rPr>
              <a:t>Algorithm &amp; Deployment  </a:t>
            </a:r>
            <a:endParaRPr lang="en-US" dirty="0">
              <a:latin typeface="Arial"/>
              <a:cs typeface="Calibri"/>
            </a:endParaRP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Result</a:t>
            </a: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Conclusion</a:t>
            </a:r>
            <a:endParaRPr lang="en-US" dirty="0">
              <a:latin typeface="Arial"/>
              <a:cs typeface="Arial"/>
            </a:endParaRP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Future Scope</a:t>
            </a: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References</a:t>
            </a:r>
            <a:endParaRPr lang="en-US" dirty="0">
              <a:latin typeface="Arial"/>
              <a:cs typeface="Arial"/>
            </a:endParaRPr>
          </a:p>
          <a:p>
            <a:endParaRPr lang="en-US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00153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231" y="784217"/>
            <a:ext cx="11029616" cy="530296"/>
          </a:xfrm>
        </p:spPr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  <a:endParaRPr lang="en-US" sz="4400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FEE4A9C-3F57-7DA7-91FD-715C3FB47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231" y="2222371"/>
            <a:ext cx="11029615" cy="2079999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IN" sz="2400" dirty="0"/>
              <a:t>Customer support systems often need to handle a large number of repetitive queries related to business hours, orders, delivery, returns, refunds, payments, and complaints. Responding to these queries manually can be time-consuming and may lead to delays in providing assistance. Customers also expect quick, clear, and understandable responses to their questions. Therefore, there is a need for an intelligent system that can understand natural-language customer queries and provide relevant, consistent, and context-aware assistance.</a:t>
            </a:r>
          </a:p>
          <a:p>
            <a:pPr marL="0" indent="0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186421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Proposed Solution</a:t>
            </a:r>
            <a:endParaRPr lang="en-US" sz="440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041FD9D-DF07-9C37-1E61-1D920E0EF1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232452"/>
            <a:ext cx="11393906" cy="5094589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buNone/>
            </a:pPr>
            <a:endParaRPr lang="en-IN" sz="2000" b="1" dirty="0"/>
          </a:p>
          <a:p>
            <a:pPr marL="0" indent="0">
              <a:buNone/>
            </a:pPr>
            <a:r>
              <a:rPr lang="en-IN" sz="2000" b="1" dirty="0"/>
              <a:t>Smart Customer Support Chatbot</a:t>
            </a:r>
          </a:p>
          <a:p>
            <a:pPr marL="0" indent="0">
              <a:buNone/>
            </a:pPr>
            <a:r>
              <a:rPr lang="en-IN" dirty="0"/>
              <a:t>The proposed system provides an AI-powered customer-support interface where users can enter questions in natural language.</a:t>
            </a:r>
          </a:p>
          <a:p>
            <a:pPr marL="0" indent="0">
              <a:buNone/>
            </a:pPr>
            <a:r>
              <a:rPr lang="en-IN" sz="1800" b="1" dirty="0"/>
              <a:t>Main functions:</a:t>
            </a:r>
            <a:endParaRPr lang="en-IN" sz="1800" dirty="0"/>
          </a:p>
          <a:p>
            <a:pPr lvl="0"/>
            <a:r>
              <a:rPr lang="en-IN" dirty="0"/>
              <a:t>Accept user queries through a chat interface </a:t>
            </a:r>
          </a:p>
          <a:p>
            <a:pPr lvl="0"/>
            <a:r>
              <a:rPr lang="en-IN" dirty="0"/>
              <a:t>Send queries to Gemini 3.6 Flash </a:t>
            </a:r>
          </a:p>
          <a:p>
            <a:pPr lvl="0"/>
            <a:r>
              <a:rPr lang="en-IN" dirty="0"/>
              <a:t>Use conversation history for contextual responses </a:t>
            </a:r>
          </a:p>
          <a:p>
            <a:pPr lvl="0"/>
            <a:r>
              <a:rPr lang="en-IN" dirty="0"/>
              <a:t>Generate natural-language answers </a:t>
            </a:r>
          </a:p>
          <a:p>
            <a:pPr lvl="0"/>
            <a:r>
              <a:rPr lang="en-IN" dirty="0"/>
              <a:t>Handle invalid/empty inputs </a:t>
            </a:r>
          </a:p>
          <a:p>
            <a:pPr lvl="0"/>
            <a:r>
              <a:rPr lang="en-IN" dirty="0"/>
              <a:t>Handle API and network errors </a:t>
            </a:r>
          </a:p>
          <a:p>
            <a:pPr lvl="0"/>
            <a:r>
              <a:rPr lang="en-IN" dirty="0"/>
              <a:t>Maintain a simple and user-friendly interface </a:t>
            </a:r>
          </a:p>
          <a:p>
            <a:pPr marL="0" indent="0" algn="just">
              <a:buNone/>
            </a:pPr>
            <a:r>
              <a:rPr lang="en-IN" dirty="0"/>
              <a:t>The chatbot represents the fictional company </a:t>
            </a:r>
            <a:r>
              <a:rPr lang="en-IN" b="1" dirty="0" err="1"/>
              <a:t>SmartMart</a:t>
            </a:r>
            <a:r>
              <a:rPr lang="en-IN" dirty="0"/>
              <a:t>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10358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662572"/>
            <a:ext cx="11029616" cy="530296"/>
          </a:xfrm>
        </p:spPr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System  Approach</a:t>
            </a:r>
            <a:endParaRPr lang="en-US" sz="4400" dirty="0">
              <a:solidFill>
                <a:schemeClr val="accent1"/>
              </a:solidFill>
              <a:latin typeface="Calibri Light"/>
              <a:cs typeface="Calibri Light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4FFAF3C-BA60-9181-132C-C36C403AAE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000" b="1" dirty="0"/>
              <a:t>Technology Stack</a:t>
            </a:r>
          </a:p>
          <a:p>
            <a:pPr lvl="0"/>
            <a:r>
              <a:rPr lang="en-IN" sz="1800" b="1" dirty="0"/>
              <a:t>Programming Language:</a:t>
            </a:r>
            <a:r>
              <a:rPr lang="en-IN" sz="1800" dirty="0"/>
              <a:t> Python </a:t>
            </a:r>
          </a:p>
          <a:p>
            <a:pPr lvl="0"/>
            <a:r>
              <a:rPr lang="en-IN" sz="1800" b="1" dirty="0"/>
              <a:t>Frontend/Web Framework:</a:t>
            </a:r>
            <a:r>
              <a:rPr lang="en-IN" sz="1800" dirty="0"/>
              <a:t> </a:t>
            </a:r>
            <a:r>
              <a:rPr lang="en-IN" sz="1800" dirty="0" err="1"/>
              <a:t>Streamlit</a:t>
            </a:r>
            <a:r>
              <a:rPr lang="en-IN" sz="1800" dirty="0"/>
              <a:t> </a:t>
            </a:r>
          </a:p>
          <a:p>
            <a:pPr lvl="0"/>
            <a:r>
              <a:rPr lang="en-IN" sz="1800" b="1" dirty="0"/>
              <a:t>LLM:</a:t>
            </a:r>
            <a:r>
              <a:rPr lang="en-IN" sz="1800" dirty="0"/>
              <a:t> Gemini 3.6 Flash </a:t>
            </a:r>
          </a:p>
          <a:p>
            <a:pPr lvl="0"/>
            <a:r>
              <a:rPr lang="en-IN" sz="1800" b="1" dirty="0"/>
              <a:t>API:</a:t>
            </a:r>
            <a:r>
              <a:rPr lang="en-IN" sz="1800" dirty="0"/>
              <a:t> Google GenAI API </a:t>
            </a:r>
          </a:p>
          <a:p>
            <a:pPr lvl="0"/>
            <a:r>
              <a:rPr lang="en-IN" sz="1800" b="1" dirty="0"/>
              <a:t>Conversation Memory:</a:t>
            </a:r>
            <a:r>
              <a:rPr lang="en-IN" sz="1800" dirty="0"/>
              <a:t> </a:t>
            </a:r>
            <a:r>
              <a:rPr lang="en-IN" sz="1800" dirty="0" err="1"/>
              <a:t>Streamlit</a:t>
            </a:r>
            <a:r>
              <a:rPr lang="en-IN" sz="1800" dirty="0"/>
              <a:t> session state </a:t>
            </a:r>
          </a:p>
          <a:p>
            <a:pPr lvl="0"/>
            <a:r>
              <a:rPr lang="en-IN" sz="1800" b="1" dirty="0"/>
              <a:t>Configuration:</a:t>
            </a:r>
            <a:r>
              <a:rPr lang="en-IN" sz="1800" dirty="0"/>
              <a:t> Environment variables / </a:t>
            </a:r>
            <a:r>
              <a:rPr lang="en-IN" sz="1800" dirty="0" err="1"/>
              <a:t>Streamlit</a:t>
            </a:r>
            <a:r>
              <a:rPr lang="en-IN" sz="1800" dirty="0"/>
              <a:t> Secrets </a:t>
            </a:r>
          </a:p>
          <a:p>
            <a:pPr lvl="0"/>
            <a:r>
              <a:rPr lang="en-IN" sz="1800" b="1" dirty="0"/>
              <a:t>Supporting Library:</a:t>
            </a:r>
            <a:r>
              <a:rPr lang="en-IN" sz="1800" dirty="0"/>
              <a:t> python-</a:t>
            </a:r>
            <a:r>
              <a:rPr lang="en-IN" sz="1800" dirty="0" err="1"/>
              <a:t>dotenv</a:t>
            </a:r>
            <a:r>
              <a:rPr lang="en-IN" sz="1800" dirty="0"/>
              <a:t> </a:t>
            </a:r>
          </a:p>
          <a:p>
            <a:pPr marL="0" indent="0">
              <a:buNone/>
            </a:pPr>
            <a:r>
              <a:rPr lang="en-IN" sz="2000" b="1" dirty="0"/>
              <a:t>Development Flow</a:t>
            </a:r>
          </a:p>
          <a:p>
            <a:pPr marL="0" indent="0">
              <a:buNone/>
            </a:pPr>
            <a:r>
              <a:rPr lang="en-IN" sz="1800" dirty="0"/>
              <a:t>User Query → Conversation History → Gemini API → Gemini 2.5 Flash → Generated Response → User</a:t>
            </a:r>
          </a:p>
          <a:p>
            <a:pPr marL="0" indent="0">
              <a:buNone/>
            </a:pPr>
            <a:endParaRPr lang="en-IN" sz="1800" b="1" dirty="0">
              <a:solidFill>
                <a:srgbClr val="0F0F0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2024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Algorithm &amp; Deployment</a:t>
            </a:r>
            <a:endParaRPr lang="en-US"/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F76115E0-22C7-A287-0563-E43ED35F77B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464" t="8948" r="48584" b="2806"/>
          <a:stretch>
            <a:fillRect/>
          </a:stretch>
        </p:blipFill>
        <p:spPr>
          <a:xfrm>
            <a:off x="581192" y="1352768"/>
            <a:ext cx="5478378" cy="5417870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96FAB861-D293-1254-81F4-CE75DAAACA22}"/>
              </a:ext>
            </a:extLst>
          </p:cNvPr>
          <p:cNvSpPr txBox="1"/>
          <p:nvPr/>
        </p:nvSpPr>
        <p:spPr>
          <a:xfrm>
            <a:off x="6761747" y="2767263"/>
            <a:ext cx="504123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DEPLOYMENT- </a:t>
            </a:r>
            <a:r>
              <a:rPr lang="en-US" sz="2800" dirty="0" err="1"/>
              <a:t>Streamlit</a:t>
            </a:r>
            <a:r>
              <a:rPr lang="en-US" sz="2800" dirty="0"/>
              <a:t>-based Web Application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41545087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Result</a:t>
            </a:r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A173A3E-B9BB-CE36-9490-AC87C262F9B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764"/>
          <a:stretch>
            <a:fillRect/>
          </a:stretch>
        </p:blipFill>
        <p:spPr>
          <a:xfrm>
            <a:off x="1876926" y="1467853"/>
            <a:ext cx="7851600" cy="4206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2933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454B5-A104-4E91-C54D-3B482DB3A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A4FECE1-4344-044E-69C6-F349CC11A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Result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23CC7B5-5DCE-634D-D112-72AF4C9E221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896"/>
          <a:stretch>
            <a:fillRect/>
          </a:stretch>
        </p:blipFill>
        <p:spPr>
          <a:xfrm>
            <a:off x="1831212" y="1449888"/>
            <a:ext cx="7852283" cy="4200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5198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175AF-AFFA-4D26-CFE1-5FA37A46A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D41B14E-9771-4242-5E68-7030EC224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Result</a:t>
            </a:r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36B9B30-4C5A-6640-95F2-7E9047F6B52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297" b="1942"/>
          <a:stretch>
            <a:fillRect/>
          </a:stretch>
        </p:blipFill>
        <p:spPr>
          <a:xfrm>
            <a:off x="1731543" y="1523999"/>
            <a:ext cx="8315134" cy="4151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1644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DC80A7-45F4-3B23-FA90-E08B34F65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A95A2E4-C35B-1477-383D-A3791C5C5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Result</a:t>
            </a:r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4A158E9-7FEE-CEB5-F4ED-CB990FB2B15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015" b="2241"/>
          <a:stretch>
            <a:fillRect/>
          </a:stretch>
        </p:blipFill>
        <p:spPr>
          <a:xfrm>
            <a:off x="1700713" y="1512276"/>
            <a:ext cx="8474917" cy="4230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57612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Conclusion</a:t>
            </a:r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05E46AB-32C4-4B57-A2B1-50738A64BE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1395810"/>
            <a:ext cx="11029615" cy="467332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2000" dirty="0"/>
              <a:t>The project successfully demonstrates the development of an AI-powered customer-support chatbot using:</a:t>
            </a:r>
          </a:p>
          <a:p>
            <a:pPr lvl="0"/>
            <a:r>
              <a:rPr lang="en-IN" sz="2000" dirty="0"/>
              <a:t>Python </a:t>
            </a:r>
          </a:p>
          <a:p>
            <a:pPr lvl="0"/>
            <a:r>
              <a:rPr lang="en-IN" sz="2000" dirty="0" err="1"/>
              <a:t>Streamlit</a:t>
            </a:r>
            <a:r>
              <a:rPr lang="en-IN" sz="2000" dirty="0"/>
              <a:t> </a:t>
            </a:r>
          </a:p>
          <a:p>
            <a:pPr lvl="0"/>
            <a:r>
              <a:rPr lang="en-IN" sz="2000" dirty="0"/>
              <a:t>Google GenAI API </a:t>
            </a:r>
          </a:p>
          <a:p>
            <a:pPr lvl="0"/>
            <a:r>
              <a:rPr lang="en-IN" sz="2000" dirty="0"/>
              <a:t>Gemini 3.6 Flash </a:t>
            </a:r>
          </a:p>
          <a:p>
            <a:pPr lvl="0"/>
            <a:r>
              <a:rPr lang="en-IN" sz="2000" dirty="0"/>
              <a:t>Conversation history </a:t>
            </a:r>
          </a:p>
          <a:p>
            <a:pPr lvl="0"/>
            <a:r>
              <a:rPr lang="en-IN" sz="2000" dirty="0"/>
              <a:t>Context-aware response generation </a:t>
            </a:r>
          </a:p>
          <a:p>
            <a:pPr lvl="0"/>
            <a:r>
              <a:rPr lang="en-IN" sz="2000" dirty="0"/>
              <a:t>Error handling and API validation </a:t>
            </a:r>
          </a:p>
          <a:p>
            <a:pPr marL="0" indent="0">
              <a:buNone/>
            </a:pPr>
            <a:r>
              <a:rPr lang="en-IN" sz="2000" dirty="0"/>
              <a:t>The system provides an interactive platform for answering common </a:t>
            </a:r>
            <a:r>
              <a:rPr lang="en-IN" sz="2000" dirty="0" err="1"/>
              <a:t>SmartMart</a:t>
            </a:r>
            <a:r>
              <a:rPr lang="en-IN" sz="2000" dirty="0"/>
              <a:t> customer-support queries while demonstrating practical applications of </a:t>
            </a:r>
            <a:r>
              <a:rPr lang="en-IN" sz="2000" b="1" dirty="0"/>
              <a:t>NLP and Generative AI</a:t>
            </a:r>
            <a:r>
              <a:rPr lang="en-IN" sz="2000" dirty="0"/>
              <a:t>.</a:t>
            </a:r>
          </a:p>
          <a:p>
            <a:pPr marL="0" indent="0">
              <a:buNone/>
            </a:pPr>
            <a:endParaRPr lang="en-IN" sz="2000" dirty="0">
              <a:solidFill>
                <a:srgbClr val="0F0F0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33151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638FD1-D00E-E75B-705C-564F06D93D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670" y="1548210"/>
            <a:ext cx="6452654" cy="4673324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IN" sz="2000" b="1" dirty="0"/>
          </a:p>
          <a:p>
            <a:pPr lvl="0"/>
            <a:r>
              <a:rPr lang="en-IN" sz="2000" dirty="0"/>
              <a:t>Connect the chatbot to a real customer/order database </a:t>
            </a:r>
          </a:p>
          <a:p>
            <a:pPr lvl="0"/>
            <a:r>
              <a:rPr lang="en-IN" sz="2000" dirty="0"/>
              <a:t>Add real-time order tracking </a:t>
            </a:r>
          </a:p>
          <a:p>
            <a:pPr lvl="0"/>
            <a:r>
              <a:rPr lang="en-IN" sz="2000" dirty="0"/>
              <a:t>Implement advanced NLP-based intent classification </a:t>
            </a:r>
          </a:p>
          <a:p>
            <a:pPr lvl="0"/>
            <a:r>
              <a:rPr lang="en-IN" sz="2000" dirty="0"/>
              <a:t>Add multilingual support </a:t>
            </a:r>
          </a:p>
          <a:p>
            <a:pPr lvl="0"/>
            <a:r>
              <a:rPr lang="en-IN" sz="2000" dirty="0"/>
              <a:t>Add voice-based customer interaction </a:t>
            </a:r>
          </a:p>
          <a:p>
            <a:pPr lvl="0"/>
            <a:r>
              <a:rPr lang="en-IN" sz="2000" dirty="0"/>
              <a:t>Introduce customer sentiment analysis </a:t>
            </a:r>
          </a:p>
          <a:p>
            <a:pPr lvl="0"/>
            <a:r>
              <a:rPr lang="en-IN" sz="2000" dirty="0"/>
              <a:t>Add human-agent escalation </a:t>
            </a:r>
          </a:p>
          <a:p>
            <a:pPr lvl="0"/>
            <a:r>
              <a:rPr lang="en-IN" sz="2000" dirty="0"/>
              <a:t>Store and </a:t>
            </a:r>
            <a:r>
              <a:rPr lang="en-IN" sz="2000" dirty="0" err="1"/>
              <a:t>analyze</a:t>
            </a:r>
            <a:r>
              <a:rPr lang="en-IN" sz="2000" dirty="0"/>
              <a:t> customer-support conversations </a:t>
            </a:r>
          </a:p>
          <a:p>
            <a:pPr lvl="0"/>
            <a:r>
              <a:rPr lang="en-IN" sz="2000" dirty="0"/>
              <a:t>Personalize responses using authorized customer information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F968F13-9AC4-7120-7ACD-9F752C767D5D}"/>
              </a:ext>
            </a:extLst>
          </p:cNvPr>
          <p:cNvSpPr txBox="1">
            <a:spLocks/>
          </p:cNvSpPr>
          <p:nvPr/>
        </p:nvSpPr>
        <p:spPr>
          <a:xfrm>
            <a:off x="535670" y="844659"/>
            <a:ext cx="11029616" cy="53029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5000" lnSpcReduction="20000"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b="1">
                <a:solidFill>
                  <a:schemeClr val="accent1"/>
                </a:solidFill>
                <a:latin typeface="Arial"/>
                <a:cs typeface="Arial"/>
              </a:rPr>
              <a:t>Future scope</a:t>
            </a:r>
          </a:p>
        </p:txBody>
      </p:sp>
    </p:spTree>
    <p:extLst>
      <p:ext uri="{BB962C8B-B14F-4D97-AF65-F5344CB8AC3E}">
        <p14:creationId xmlns:p14="http://schemas.microsoft.com/office/powerpoint/2010/main" val="6148826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References</a:t>
            </a:r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57C38BC-22B3-37B2-E0C3-812020A760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IBM BOB </a:t>
            </a:r>
          </a:p>
          <a:p>
            <a:pPr lvl="0"/>
            <a:r>
              <a:rPr lang="en-IN" sz="2400" dirty="0"/>
              <a:t>Google Gemini / Google GenAI API </a:t>
            </a:r>
          </a:p>
          <a:p>
            <a:pPr lvl="0"/>
            <a:r>
              <a:rPr lang="en-IN" sz="2400" dirty="0"/>
              <a:t>Gemini 3.6 Flash </a:t>
            </a:r>
          </a:p>
          <a:p>
            <a:pPr lvl="0"/>
            <a:r>
              <a:rPr lang="en-IN" sz="2400" dirty="0" err="1"/>
              <a:t>Streamlit</a:t>
            </a:r>
            <a:r>
              <a:rPr lang="en-IN" sz="2400" dirty="0"/>
              <a:t> Documentation </a:t>
            </a:r>
          </a:p>
          <a:p>
            <a:pPr lvl="0"/>
            <a:r>
              <a:rPr lang="en-IN" sz="2400" dirty="0"/>
              <a:t>Python Documentation </a:t>
            </a:r>
          </a:p>
          <a:p>
            <a:pPr lvl="0"/>
            <a:r>
              <a:rPr lang="en-IN" sz="2400" dirty="0"/>
              <a:t>python-</a:t>
            </a:r>
            <a:r>
              <a:rPr lang="en-IN" sz="2400" dirty="0" err="1"/>
              <a:t>dotenv</a:t>
            </a:r>
            <a:r>
              <a:rPr lang="en-IN" sz="2400" dirty="0"/>
              <a:t> Documentation </a:t>
            </a:r>
          </a:p>
          <a:p>
            <a:pPr marL="305435" indent="-305435"/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7289502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D7422-ED9D-D856-C6AD-0F1A715C2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Deployment link / </a:t>
            </a:r>
            <a:r>
              <a:rPr lang="en-IN" err="1"/>
              <a:t>github</a:t>
            </a:r>
            <a:r>
              <a:rPr lang="en-IN"/>
              <a:t> link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8C47C2-EF01-12B0-99EA-861F9629D1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4506" y="1606826"/>
            <a:ext cx="11029615" cy="1933543"/>
          </a:xfrm>
        </p:spPr>
        <p:txBody>
          <a:bodyPr>
            <a:normAutofit/>
          </a:bodyPr>
          <a:lstStyle/>
          <a:p>
            <a:pPr marL="305435" indent="-305435"/>
            <a:r>
              <a:rPr lang="en-IN" sz="2400" dirty="0" err="1"/>
              <a:t>Github</a:t>
            </a:r>
            <a:r>
              <a:rPr lang="en-IN" sz="2400" dirty="0"/>
              <a:t> Link</a:t>
            </a:r>
            <a:r>
              <a:rPr lang="en-IN" sz="2400"/>
              <a:t>: </a:t>
            </a:r>
            <a:r>
              <a:rPr lang="en-IN" sz="2400">
                <a:hlinkClick r:id="rId2"/>
              </a:rPr>
              <a:t>https://github.com/ruprekhabiswas3-code/Smart-Customer-Support-Chatbot.git</a:t>
            </a:r>
            <a:r>
              <a:rPr lang="en-IN" sz="2400"/>
              <a:t> </a:t>
            </a:r>
            <a:endParaRPr lang="en-IN" sz="2400" dirty="0"/>
          </a:p>
          <a:p>
            <a:pPr marL="305435" indent="-305435"/>
            <a:r>
              <a:rPr lang="en-IN" sz="2400" dirty="0" err="1"/>
              <a:t>Streamlit</a:t>
            </a:r>
            <a:r>
              <a:rPr lang="en-IN" sz="2400" dirty="0"/>
              <a:t> Link: </a:t>
            </a:r>
            <a:r>
              <a:rPr lang="en-IN" sz="2400" dirty="0">
                <a:hlinkClick r:id="rId3"/>
              </a:rPr>
              <a:t>http://localhost:8503/</a:t>
            </a:r>
            <a:r>
              <a:rPr lang="en-IN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88529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BE4CA82-64EC-4D4E-A5E5-3EBB66E7B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1" y="2766218"/>
            <a:ext cx="9298744" cy="1325563"/>
          </a:xfrm>
        </p:spPr>
        <p:txBody>
          <a:bodyPr/>
          <a:lstStyle/>
          <a:p>
            <a:pPr algn="ctr"/>
            <a:r>
              <a:rPr lang="en-US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066255318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F1872188ABCFC48BECA6C87E8AC3285" ma:contentTypeVersion="17" ma:contentTypeDescription="Create a new document." ma:contentTypeScope="" ma:versionID="55a158675e089c6a85ab0f83b89e1a15">
  <xsd:schema xmlns:xsd="http://www.w3.org/2001/XMLSchema" xmlns:xs="http://www.w3.org/2001/XMLSchema" xmlns:p="http://schemas.microsoft.com/office/2006/metadata/properties" xmlns:ns3="9162bd5b-4ed9-4da3-b376-05204580ba3f" xmlns:ns4="c0fa2617-96bd-425d-8578-e93563fe37c5" targetNamespace="http://schemas.microsoft.com/office/2006/metadata/properties" ma:root="true" ma:fieldsID="b35f082308864fa161c4a0a9eca35eff" ns3:_="" ns4:_="">
    <xsd:import namespace="9162bd5b-4ed9-4da3-b376-05204580ba3f"/>
    <xsd:import namespace="c0fa2617-96bd-425d-8578-e93563fe37c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_activity" minOccurs="0"/>
                <xsd:element ref="ns3:MediaServiceObjectDetectorVersion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62bd5b-4ed9-4da3-b376-05204580ba3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fa2617-96bd-425d-8578-e93563fe37c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9162bd5b-4ed9-4da3-b376-05204580ba3f" xsi:nil="true"/>
    <_activity xmlns="9162bd5b-4ed9-4da3-b376-05204580ba3f" xsi:nil="true"/>
  </documentManagement>
</p:properties>
</file>

<file path=customXml/itemProps1.xml><?xml version="1.0" encoding="utf-8"?>
<ds:datastoreItem xmlns:ds="http://schemas.openxmlformats.org/officeDocument/2006/customXml" ds:itemID="{6E816721-11E4-4989-8472-AB5A7EC20404}">
  <ds:schemaRefs>
    <ds:schemaRef ds:uri="9162bd5b-4ed9-4da3-b376-05204580ba3f"/>
    <ds:schemaRef ds:uri="c0fa2617-96bd-425d-8578-e93563fe37c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927BD4C1-B6B1-4715-ABF9-E660A51A4EA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D289AE2-D2AE-49D1-AFAC-3A79F6794255}">
  <ds:schemaRefs>
    <ds:schemaRef ds:uri="9162bd5b-4ed9-4da3-b376-05204580ba3f"/>
    <ds:schemaRef ds:uri="c0fa2617-96bd-425d-8578-e93563fe37c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Future forward</Template>
  <TotalTime>3335</TotalTime>
  <Words>453</Words>
  <Application>Microsoft Office PowerPoint</Application>
  <PresentationFormat>Widescreen</PresentationFormat>
  <Paragraphs>81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Calibri Light</vt:lpstr>
      <vt:lpstr>Franklin Gothic Book</vt:lpstr>
      <vt:lpstr>Franklin Gothic Demi</vt:lpstr>
      <vt:lpstr>Wingdings 2</vt:lpstr>
      <vt:lpstr>DividendVTI</vt:lpstr>
      <vt:lpstr>Smart Customer Support Chatbot PROJECT DOMAIN: Natural Language Processing (NLP) + Generative AI  PROJECT TYPE: NLP + LLM + Web Application </vt:lpstr>
      <vt:lpstr>OUTLINE</vt:lpstr>
      <vt:lpstr>Problem Statement</vt:lpstr>
      <vt:lpstr>Proposed Solution</vt:lpstr>
      <vt:lpstr>System  Approach</vt:lpstr>
      <vt:lpstr>Algorithm &amp; Deployment</vt:lpstr>
      <vt:lpstr>Result</vt:lpstr>
      <vt:lpstr>Result</vt:lpstr>
      <vt:lpstr>Result</vt:lpstr>
      <vt:lpstr>Result</vt:lpstr>
      <vt:lpstr>Conclusion</vt:lpstr>
      <vt:lpstr>PowerPoint Presentation</vt:lpstr>
      <vt:lpstr>References</vt:lpstr>
      <vt:lpstr>Deployment link / github link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SkillsBuild Partner Update template</dc:title>
  <dc:creator>Vaibhav Ostwal</dc:creator>
  <cp:lastModifiedBy>Ruprekha Biswas</cp:lastModifiedBy>
  <cp:revision>5</cp:revision>
  <dcterms:created xsi:type="dcterms:W3CDTF">2021-05-26T16:50:10Z</dcterms:created>
  <dcterms:modified xsi:type="dcterms:W3CDTF">2026-09-12T16:29:57Z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0x0101000F1872188ABCFC48BECA6C87E8AC3285</vt:lpwstr>
  </property>
</Properties>
</file>