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2" r:id="rId4"/>
  </p:sldMasterIdLst>
  <p:notesMasterIdLst>
    <p:notesMasterId r:id="rId20"/>
  </p:notesMasterIdLst>
  <p:sldIdLst>
    <p:sldId id="256" r:id="rId5"/>
    <p:sldId id="2146847054" r:id="rId6"/>
    <p:sldId id="262" r:id="rId7"/>
    <p:sldId id="263" r:id="rId8"/>
    <p:sldId id="265" r:id="rId9"/>
    <p:sldId id="266" r:id="rId10"/>
    <p:sldId id="267" r:id="rId11"/>
    <p:sldId id="2146847057" r:id="rId12"/>
    <p:sldId id="2146847058" r:id="rId13"/>
    <p:sldId id="2146847059" r:id="rId14"/>
    <p:sldId id="268" r:id="rId15"/>
    <p:sldId id="2146847055" r:id="rId16"/>
    <p:sldId id="269" r:id="rId17"/>
    <p:sldId id="2146847056" r:id="rId18"/>
    <p:sldId id="259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2BA97"/>
    <a:srgbClr val="8E6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8C001DB-1473-4CB2-B656-8ED0BD15FF6E}" v="2" dt="2026-09-12T14:18:04.33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86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5/10/relationships/revisionInfo" Target="revisionInfo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uprekha Biswas" userId="56b2f0692c54900f" providerId="LiveId" clId="{4F7F8225-7B7F-4C67-810D-0BB780CB347C}"/>
    <pc:docChg chg="modSld">
      <pc:chgData name="Ruprekha Biswas" userId="56b2f0692c54900f" providerId="LiveId" clId="{4F7F8225-7B7F-4C67-810D-0BB780CB347C}" dt="2026-09-12T14:18:04.320" v="25" actId="20577"/>
      <pc:docMkLst>
        <pc:docMk/>
      </pc:docMkLst>
      <pc:sldChg chg="modSp mod">
        <pc:chgData name="Ruprekha Biswas" userId="56b2f0692c54900f" providerId="LiveId" clId="{4F7F8225-7B7F-4C67-810D-0BB780CB347C}" dt="2026-09-12T14:18:04.320" v="25" actId="20577"/>
        <pc:sldMkLst>
          <pc:docMk/>
          <pc:sldMk cId="258852918" sldId="2146847056"/>
        </pc:sldMkLst>
        <pc:spChg chg="mod">
          <ac:chgData name="Ruprekha Biswas" userId="56b2f0692c54900f" providerId="LiveId" clId="{4F7F8225-7B7F-4C67-810D-0BB780CB347C}" dt="2026-09-12T14:18:04.320" v="25" actId="20577"/>
          <ac:spMkLst>
            <pc:docMk/>
            <pc:sldMk cId="258852918" sldId="2146847056"/>
            <ac:spMk id="3" creationId="{618C47C2-EF01-12B0-99EA-861F9629D1D9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256A78-79A6-408F-8148-4F87BB81602D}" type="datetimeFigureOut">
              <a:rPr lang="en-IN" smtClean="0"/>
              <a:t>12-09-2026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E254F1-4415-47BF-9E91-C5D4B9A3335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80084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9/12/2026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0017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53029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1302026"/>
            <a:ext cx="11029615" cy="46733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D82B9-B8EE-4375-B6FF-88FA6ABB15D9}" type="datetime1">
              <a:rPr lang="en-US" smtClean="0"/>
              <a:t>9/12/2026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443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2393950"/>
            <a:ext cx="11029615" cy="214746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97495-0637-405E-AE64-5CC7506D51F5}" type="datetime1">
              <a:rPr lang="en-US" smtClean="0"/>
              <a:t>9/12/2026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809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49285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1391479"/>
            <a:ext cx="5194767" cy="446957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6039" y="1391479"/>
            <a:ext cx="5194769" cy="446957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FD690-9426-415D-8B65-26881E07B2D4}" type="datetime1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323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1" y="2250891"/>
            <a:ext cx="5194769" cy="557784"/>
          </a:xfrm>
        </p:spPr>
        <p:txBody>
          <a:bodyPr anchor="ctr">
            <a:noAutofit/>
          </a:bodyPr>
          <a:lstStyle>
            <a:lvl1pPr marL="0" indent="0"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194766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6039" y="2250892"/>
            <a:ext cx="5194770" cy="553373"/>
          </a:xfrm>
        </p:spPr>
        <p:txBody>
          <a:bodyPr anchor="ctr">
            <a:no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6037" y="2926052"/>
            <a:ext cx="5194771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4989A-474C-40DE-95B9-011C28B71673}" type="datetime1">
              <a:rPr lang="en-US" smtClean="0"/>
              <a:t>9/12/2026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046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59224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D54-5B5E-4A04-93D3-5772E3CE3818}" type="datetime1">
              <a:rPr lang="en-US" smtClean="0"/>
              <a:t>9/12/2026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36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E50D6-574B-40AF-946F-D52A04ADE379}" type="datetime1">
              <a:rPr lang="en-US" smtClean="0"/>
              <a:t>9/12/2026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494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601200"/>
            <a:ext cx="3682723" cy="581547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7857" y="933450"/>
            <a:ext cx="3031852" cy="1722419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00928" y="1179829"/>
            <a:ext cx="6650991" cy="4658216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7857" y="2836654"/>
            <a:ext cx="3031852" cy="3001392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rgbClr val="FFFFFF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56916"/>
            <a:ext cx="2844799" cy="365125"/>
          </a:xfrm>
        </p:spPr>
        <p:txBody>
          <a:bodyPr/>
          <a:lstStyle/>
          <a:p>
            <a:fld id="{D82884F1-FFEA-405F-9602-3DCA865EDA4E}" type="datetime1">
              <a:rPr lang="en-US" smtClean="0"/>
              <a:t>9/12/2026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52590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456916"/>
            <a:ext cx="1052510" cy="365125"/>
          </a:xfrm>
        </p:spPr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1766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641350"/>
            <a:ext cx="11290859" cy="3651249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998148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8DB4A-8810-4A10-AD5C-D5E2C667F5B3}" type="datetime1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pPr algn="l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3289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D4963-E985-44C4-B8C4-FDD613B7C2F8}" type="datetime1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591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058151" y="599725"/>
            <a:ext cx="3687316" cy="581695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04200" y="863600"/>
            <a:ext cx="3124200" cy="4807326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863600"/>
            <a:ext cx="7161625" cy="4807326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9/12/2026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8496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55714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1415198"/>
            <a:ext cx="11029616" cy="45728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6423914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D291B17-9318-49DB-B28B-6E5994AE9581}" type="datetime1">
              <a:rPr lang="en-US" smtClean="0"/>
              <a:t>9/12/2026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6423914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8" name="Picture 7" descr="Logo&#10;&#10;Description automatically generated">
            <a:extLst>
              <a:ext uri="{FF2B5EF4-FFF2-40B4-BE49-F238E27FC236}">
                <a16:creationId xmlns:a16="http://schemas.microsoft.com/office/drawing/2014/main" id="{14A64E4D-8DED-7830-2955-1BE78C5B0655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10485003" y="6437910"/>
            <a:ext cx="1125805" cy="365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0897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6" r:id="rId1"/>
    <p:sldLayoutId id="2147483757" r:id="rId2"/>
    <p:sldLayoutId id="2147483758" r:id="rId3"/>
    <p:sldLayoutId id="2147483759" r:id="rId4"/>
    <p:sldLayoutId id="2147483711" r:id="rId5"/>
    <p:sldLayoutId id="2147483760" r:id="rId6"/>
    <p:sldLayoutId id="2147483762" r:id="rId7"/>
    <p:sldLayoutId id="2147483706" r:id="rId8"/>
    <p:sldLayoutId id="2147483709" r:id="rId9"/>
    <p:sldLayoutId id="2147483707" r:id="rId10"/>
    <p:sldLayoutId id="2147483708" r:id="rId11"/>
  </p:sldLayoutIdLst>
  <p:hf sldNum="0" hdr="0" ftr="0" dt="0"/>
  <p:txStyles>
    <p:titleStyle>
      <a:lvl1pPr algn="l" defTabSz="457200" rtl="0" eaLnBrk="1" latinLnBrk="0" hangingPunct="1">
        <a:lnSpc>
          <a:spcPct val="100000"/>
        </a:lnSpc>
        <a:spcBef>
          <a:spcPct val="0"/>
        </a:spcBef>
        <a:buNone/>
        <a:defRPr sz="280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:8503/" TargetMode="External"/><Relationship Id="rId2" Type="http://schemas.openxmlformats.org/officeDocument/2006/relationships/hyperlink" Target="https://github.com/ruprekhabiswas3-code/Smart-Customer-Support-Chatbot.git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11E26-4C38-41A6-9857-11032CEECD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48403" y="1619096"/>
            <a:ext cx="9144000" cy="1403056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Smart Customer Support Chatbot</a:t>
            </a:r>
            <a:br>
              <a:rPr lang="en-US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IN" sz="2000" dirty="0"/>
              <a:t>PROJECT DOMAIN: Natural Language Processing (NLP) + Generative AI </a:t>
            </a:r>
            <a:br>
              <a:rPr lang="en-IN" sz="2000" dirty="0"/>
            </a:br>
            <a:r>
              <a:rPr lang="en-IN" sz="2000" dirty="0"/>
              <a:t>PROJECT TYPE: NLP + LLM + Web Application</a:t>
            </a:r>
            <a:br>
              <a:rPr lang="en-IN" sz="2000" dirty="0"/>
            </a:br>
            <a:endParaRPr lang="en-US" sz="20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-329782" y="1034321"/>
            <a:ext cx="12726648" cy="58477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3200" b="1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CAPSTONE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60329" y="3730580"/>
            <a:ext cx="7980183" cy="163121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Presented By:</a:t>
            </a:r>
          </a:p>
          <a:p>
            <a:pPr marL="457200" indent="-457200">
              <a:buAutoNum type="arabicPeriod"/>
            </a:pP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Student Name- Ruprekha </a:t>
            </a:r>
            <a:r>
              <a:rPr lang="en-US" sz="2000" b="1" dirty="0" err="1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Biswaas</a:t>
            </a:r>
            <a:endParaRPr lang="en-US" sz="2000" b="1" dirty="0">
              <a:solidFill>
                <a:schemeClr val="accent1">
                  <a:lumMod val="75000"/>
                </a:schemeClr>
              </a:solidFill>
              <a:latin typeface="Arial"/>
              <a:cs typeface="Arial"/>
            </a:endParaRPr>
          </a:p>
          <a:p>
            <a:pPr marL="457200" indent="-457200">
              <a:buAutoNum type="arabicPeriod"/>
            </a:pP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College Name- The Heritage Academy</a:t>
            </a:r>
          </a:p>
          <a:p>
            <a:pPr marL="457200" indent="-457200">
              <a:buAutoNum type="arabicPeriod"/>
            </a:pP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Department- BBA</a:t>
            </a:r>
          </a:p>
          <a:p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4.   AICTE ID- STU696647052e5541768310533</a:t>
            </a:r>
          </a:p>
        </p:txBody>
      </p:sp>
    </p:spTree>
    <p:extLst>
      <p:ext uri="{BB962C8B-B14F-4D97-AF65-F5344CB8AC3E}">
        <p14:creationId xmlns:p14="http://schemas.microsoft.com/office/powerpoint/2010/main" val="9533255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FFEB4C-F209-4AE7-AA2B-B3C26CE2C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0615" y="550985"/>
            <a:ext cx="10515600" cy="774578"/>
          </a:xfrm>
        </p:spPr>
        <p:txBody>
          <a:bodyPr/>
          <a:lstStyle/>
          <a:p>
            <a:r>
              <a:rPr lang="en-US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678641-EEA3-4EC4-BF39-4075B0C120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0615" y="1143000"/>
            <a:ext cx="7221416" cy="4572000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en-US" sz="2000" b="1" dirty="0">
                <a:latin typeface="Arial"/>
                <a:ea typeface="+mn-lt"/>
                <a:cs typeface="Arial"/>
              </a:rPr>
              <a:t>  </a:t>
            </a:r>
            <a:endParaRPr lang="en-US" dirty="0">
              <a:latin typeface="Arial"/>
              <a:cs typeface="Arial"/>
            </a:endParaRPr>
          </a:p>
          <a:p>
            <a:r>
              <a:rPr lang="en-US" sz="2000" b="1" dirty="0">
                <a:latin typeface="Arial"/>
                <a:ea typeface="+mn-lt"/>
                <a:cs typeface="Arial"/>
              </a:rPr>
              <a:t>Problem Statement </a:t>
            </a:r>
            <a:endParaRPr lang="en-US" dirty="0">
              <a:latin typeface="Arial"/>
              <a:cs typeface="Arial"/>
            </a:endParaRPr>
          </a:p>
          <a:p>
            <a:r>
              <a:rPr lang="en-US" sz="2000" b="1" dirty="0">
                <a:latin typeface="Arial"/>
                <a:ea typeface="+mn-lt"/>
                <a:cs typeface="Arial"/>
              </a:rPr>
              <a:t>Proposed System/Solution</a:t>
            </a:r>
            <a:endParaRPr lang="en-US" dirty="0">
              <a:latin typeface="Arial"/>
              <a:cs typeface="Arial"/>
            </a:endParaRPr>
          </a:p>
          <a:p>
            <a:r>
              <a:rPr lang="en-US" sz="2000" b="1" dirty="0">
                <a:latin typeface="Arial"/>
                <a:ea typeface="+mn-lt"/>
                <a:cs typeface="Calibri"/>
              </a:rPr>
              <a:t>System </a:t>
            </a:r>
            <a:r>
              <a:rPr lang="en-US" sz="2000" b="1" dirty="0">
                <a:latin typeface="Arial"/>
                <a:ea typeface="+mn-lt"/>
                <a:cs typeface="+mn-lt"/>
              </a:rPr>
              <a:t>Development Approach </a:t>
            </a:r>
            <a:r>
              <a:rPr lang="en-US" sz="2000" dirty="0">
                <a:latin typeface="Arial"/>
                <a:ea typeface="+mn-lt"/>
                <a:cs typeface="+mn-lt"/>
              </a:rPr>
              <a:t>(Technology Used) </a:t>
            </a:r>
            <a:endParaRPr lang="en-US" dirty="0">
              <a:latin typeface="Arial"/>
              <a:ea typeface="+mn-lt"/>
              <a:cs typeface="+mn-lt"/>
            </a:endParaRPr>
          </a:p>
          <a:p>
            <a:r>
              <a:rPr lang="en-US" sz="2000" b="1" dirty="0">
                <a:latin typeface="Arial"/>
                <a:ea typeface="+mn-lt"/>
                <a:cs typeface="+mn-lt"/>
              </a:rPr>
              <a:t>Algorithm &amp; Deployment  </a:t>
            </a:r>
            <a:endParaRPr lang="en-US" dirty="0">
              <a:latin typeface="Arial"/>
              <a:cs typeface="Calibri"/>
            </a:endParaRPr>
          </a:p>
          <a:p>
            <a:r>
              <a:rPr lang="en-US" sz="2000" b="1" dirty="0">
                <a:latin typeface="Arial"/>
                <a:ea typeface="+mn-lt"/>
                <a:cs typeface="Arial"/>
              </a:rPr>
              <a:t>Result</a:t>
            </a:r>
          </a:p>
          <a:p>
            <a:r>
              <a:rPr lang="en-US" sz="2000" b="1" dirty="0">
                <a:latin typeface="Arial"/>
                <a:ea typeface="+mn-lt"/>
                <a:cs typeface="Arial"/>
              </a:rPr>
              <a:t>Conclusion</a:t>
            </a:r>
            <a:endParaRPr lang="en-US" dirty="0">
              <a:latin typeface="Arial"/>
              <a:cs typeface="Arial"/>
            </a:endParaRPr>
          </a:p>
          <a:p>
            <a:r>
              <a:rPr lang="en-US" sz="2000" b="1" dirty="0">
                <a:latin typeface="Arial"/>
                <a:ea typeface="+mn-lt"/>
                <a:cs typeface="Arial"/>
              </a:rPr>
              <a:t>Future Scope</a:t>
            </a:r>
          </a:p>
          <a:p>
            <a:r>
              <a:rPr lang="en-US" sz="2000" b="1" dirty="0">
                <a:latin typeface="Arial"/>
                <a:ea typeface="+mn-lt"/>
                <a:cs typeface="Arial"/>
              </a:rPr>
              <a:t>References</a:t>
            </a:r>
            <a:endParaRPr lang="en-US" dirty="0">
              <a:latin typeface="Arial"/>
              <a:cs typeface="Arial"/>
            </a:endParaRPr>
          </a:p>
          <a:p>
            <a:endParaRPr lang="en-US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001537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FBA75B4-2DD5-42EB-9397-F36BFB8BA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31" y="784217"/>
            <a:ext cx="11029616" cy="530296"/>
          </a:xfrm>
        </p:spPr>
        <p:txBody>
          <a:bodyPr>
            <a:normAutofit fontScale="90000"/>
          </a:bodyPr>
          <a:lstStyle/>
          <a:p>
            <a:r>
              <a:rPr lang="en-US" sz="4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Problem Statement</a:t>
            </a:r>
            <a:endParaRPr lang="en-US" sz="44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FEE4A9C-3F57-7DA7-91FD-715C3FB47F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231" y="2222371"/>
            <a:ext cx="11029615" cy="2079999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en-IN" sz="2400" dirty="0"/>
              <a:t>Customer support systems often need to handle a large number of repetitive queries related to business hours, orders, delivery, returns, refunds, payments, and complaints. Responding to these queries manually can be time-consuming and may lead to delays in providing assistance. Customers also expect quick, clear, and understandable responses to their questions. Therefore, there is a need for an intelligent system that can understand natural-language customer queries and provide relevant, consistent, and context-aware assistance.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1864211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FBA75B4-2DD5-42EB-9397-F36BFB8BA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b="1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Proposed Solution</a:t>
            </a:r>
            <a:endParaRPr lang="en-US" sz="440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041FD9D-DF07-9C37-1E61-1D920E0EF1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232452"/>
            <a:ext cx="11393906" cy="5094589"/>
          </a:xfrm>
        </p:spPr>
        <p:txBody>
          <a:bodyPr vert="horz" lIns="91440" tIns="45720" rIns="91440" bIns="45720" rtlCol="0" anchor="ctr">
            <a:noAutofit/>
          </a:bodyPr>
          <a:lstStyle/>
          <a:p>
            <a:pPr marL="0" indent="0">
              <a:buNone/>
            </a:pP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Smart Customer Support Chatbot</a:t>
            </a:r>
          </a:p>
          <a:p>
            <a:pPr marL="0" indent="0">
              <a:buNone/>
            </a:pPr>
            <a:r>
              <a:rPr lang="en-IN" dirty="0"/>
              <a:t>The proposed system provides an AI-powered customer-support interface where users can enter questions in natural language.</a:t>
            </a:r>
          </a:p>
          <a:p>
            <a:pPr marL="0" indent="0">
              <a:buNone/>
            </a:pPr>
            <a:r>
              <a:rPr lang="en-IN" sz="1800" b="1" dirty="0"/>
              <a:t>Main functions:</a:t>
            </a:r>
            <a:endParaRPr lang="en-IN" sz="1800" dirty="0"/>
          </a:p>
          <a:p>
            <a:pPr lvl="0"/>
            <a:r>
              <a:rPr lang="en-IN" dirty="0"/>
              <a:t>Accept user queries through a chat interface </a:t>
            </a:r>
          </a:p>
          <a:p>
            <a:pPr lvl="0"/>
            <a:r>
              <a:rPr lang="en-IN" dirty="0"/>
              <a:t>Send queries to Gemini 3.6 Flash </a:t>
            </a:r>
          </a:p>
          <a:p>
            <a:pPr lvl="0"/>
            <a:r>
              <a:rPr lang="en-IN" dirty="0"/>
              <a:t>Use conversation history for contextual responses </a:t>
            </a:r>
          </a:p>
          <a:p>
            <a:pPr lvl="0"/>
            <a:r>
              <a:rPr lang="en-IN" dirty="0"/>
              <a:t>Generate natural-language answers </a:t>
            </a:r>
          </a:p>
          <a:p>
            <a:pPr lvl="0"/>
            <a:r>
              <a:rPr lang="en-IN" dirty="0"/>
              <a:t>Handle invalid/empty inputs </a:t>
            </a:r>
          </a:p>
          <a:p>
            <a:pPr lvl="0"/>
            <a:r>
              <a:rPr lang="en-IN" dirty="0"/>
              <a:t>Handle API and network errors </a:t>
            </a:r>
          </a:p>
          <a:p>
            <a:pPr lvl="0"/>
            <a:r>
              <a:rPr lang="en-IN" dirty="0"/>
              <a:t>Maintain a simple and user-friendly interface </a:t>
            </a:r>
          </a:p>
          <a:p>
            <a:pPr marL="0" indent="0" algn="just">
              <a:buNone/>
            </a:pPr>
            <a:r>
              <a:rPr lang="en-IN" dirty="0"/>
              <a:t>The chatbot represents the fictional company </a:t>
            </a:r>
            <a:r>
              <a:rPr lang="en-IN" b="1" dirty="0" err="1"/>
              <a:t>SmartMart</a:t>
            </a:r>
            <a:r>
              <a:rPr lang="en-IN" dirty="0"/>
              <a:t>.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103584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FBA75B4-2DD5-42EB-9397-F36BFB8BA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662572"/>
            <a:ext cx="11029616" cy="530296"/>
          </a:xfrm>
        </p:spPr>
        <p:txBody>
          <a:bodyPr>
            <a:normAutofit fontScale="90000"/>
          </a:bodyPr>
          <a:lstStyle/>
          <a:p>
            <a:r>
              <a:rPr lang="en-US" sz="4400" b="1" dirty="0">
                <a:solidFill>
                  <a:schemeClr val="accent1"/>
                </a:solidFill>
                <a:latin typeface="Arial"/>
                <a:ea typeface="+mj-lt"/>
                <a:cs typeface="Arial"/>
              </a:rPr>
              <a:t>System  Approach</a:t>
            </a:r>
            <a:endParaRPr lang="en-US" sz="4400" dirty="0">
              <a:solidFill>
                <a:schemeClr val="accent1"/>
              </a:solidFill>
              <a:latin typeface="Calibri Light"/>
              <a:cs typeface="Calibri Light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4FFAF3C-BA60-9181-132C-C36C403AAE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sz="2000" b="1" dirty="0"/>
              <a:t>Technology Stack</a:t>
            </a:r>
          </a:p>
          <a:p>
            <a:pPr lvl="0"/>
            <a:r>
              <a:rPr lang="en-IN" sz="1800" b="1" dirty="0"/>
              <a:t>Programming Language:</a:t>
            </a:r>
            <a:r>
              <a:rPr lang="en-IN" sz="1800" dirty="0"/>
              <a:t> Python </a:t>
            </a:r>
          </a:p>
          <a:p>
            <a:pPr lvl="0"/>
            <a:r>
              <a:rPr lang="en-IN" sz="1800" b="1" dirty="0"/>
              <a:t>Frontend/Web Framework:</a:t>
            </a:r>
            <a:r>
              <a:rPr lang="en-IN" sz="1800" dirty="0"/>
              <a:t> </a:t>
            </a:r>
            <a:r>
              <a:rPr lang="en-IN" sz="1800" dirty="0" err="1"/>
              <a:t>Streamlit</a:t>
            </a:r>
            <a:r>
              <a:rPr lang="en-IN" sz="1800" dirty="0"/>
              <a:t> </a:t>
            </a:r>
          </a:p>
          <a:p>
            <a:pPr lvl="0"/>
            <a:r>
              <a:rPr lang="en-IN" sz="1800" b="1" dirty="0"/>
              <a:t>LLM:</a:t>
            </a:r>
            <a:r>
              <a:rPr lang="en-IN" sz="1800" dirty="0"/>
              <a:t> Gemini 3.6 Flash </a:t>
            </a:r>
          </a:p>
          <a:p>
            <a:pPr lvl="0"/>
            <a:r>
              <a:rPr lang="en-IN" sz="1800" b="1" dirty="0"/>
              <a:t>API:</a:t>
            </a:r>
            <a:r>
              <a:rPr lang="en-IN" sz="1800" dirty="0"/>
              <a:t> Google GenAI API </a:t>
            </a:r>
          </a:p>
          <a:p>
            <a:pPr lvl="0"/>
            <a:r>
              <a:rPr lang="en-IN" sz="1800" b="1" dirty="0"/>
              <a:t>Conversation Memory:</a:t>
            </a:r>
            <a:r>
              <a:rPr lang="en-IN" sz="1800" dirty="0"/>
              <a:t> </a:t>
            </a:r>
            <a:r>
              <a:rPr lang="en-IN" sz="1800" dirty="0" err="1"/>
              <a:t>Streamlit</a:t>
            </a:r>
            <a:r>
              <a:rPr lang="en-IN" sz="1800" dirty="0"/>
              <a:t> session state </a:t>
            </a:r>
          </a:p>
          <a:p>
            <a:pPr lvl="0"/>
            <a:r>
              <a:rPr lang="en-IN" sz="1800" b="1" dirty="0"/>
              <a:t>Configuration:</a:t>
            </a:r>
            <a:r>
              <a:rPr lang="en-IN" sz="1800" dirty="0"/>
              <a:t> Environment variables / </a:t>
            </a:r>
            <a:r>
              <a:rPr lang="en-IN" sz="1800" dirty="0" err="1"/>
              <a:t>Streamlit</a:t>
            </a:r>
            <a:r>
              <a:rPr lang="en-IN" sz="1800" dirty="0"/>
              <a:t> Secrets </a:t>
            </a:r>
          </a:p>
          <a:p>
            <a:pPr lvl="0"/>
            <a:r>
              <a:rPr lang="en-IN" sz="1800" b="1" dirty="0"/>
              <a:t>Supporting Library:</a:t>
            </a:r>
            <a:r>
              <a:rPr lang="en-IN" sz="1800" dirty="0"/>
              <a:t> python-</a:t>
            </a:r>
            <a:r>
              <a:rPr lang="en-IN" sz="1800" dirty="0" err="1"/>
              <a:t>dotenv</a:t>
            </a:r>
            <a:r>
              <a:rPr lang="en-IN" sz="1800" dirty="0"/>
              <a:t> </a:t>
            </a:r>
          </a:p>
          <a:p>
            <a:pPr marL="0" indent="0">
              <a:buNone/>
            </a:pPr>
            <a:r>
              <a:rPr lang="en-IN" sz="2000" b="1" dirty="0"/>
              <a:t>Development Flow</a:t>
            </a:r>
          </a:p>
          <a:p>
            <a:pPr marL="0" indent="0">
              <a:buNone/>
            </a:pPr>
            <a:r>
              <a:rPr lang="en-IN" sz="1800" dirty="0"/>
              <a:t>User Query → Conversation History → Gemini API → Gemini 2.5 Flash → Generated Response → User</a:t>
            </a:r>
          </a:p>
          <a:p>
            <a:pPr marL="0" indent="0">
              <a:buNone/>
            </a:pPr>
            <a:endParaRPr lang="en-IN" sz="1800" b="1" dirty="0">
              <a:solidFill>
                <a:srgbClr val="0F0F0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20245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FBA75B4-2DD5-42EB-9397-F36BFB8BA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b="1">
                <a:solidFill>
                  <a:schemeClr val="accent1"/>
                </a:solidFill>
                <a:latin typeface="Arial"/>
                <a:ea typeface="+mj-lt"/>
                <a:cs typeface="Arial"/>
              </a:rPr>
              <a:t>Algorithm &amp; Deployment</a:t>
            </a:r>
            <a:endParaRPr lang="en-US"/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F76115E0-22C7-A287-0563-E43ED35F77B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464" t="8948" r="48584" b="2806"/>
          <a:stretch>
            <a:fillRect/>
          </a:stretch>
        </p:blipFill>
        <p:spPr>
          <a:xfrm>
            <a:off x="581192" y="1352768"/>
            <a:ext cx="5478378" cy="5417870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96FAB861-D293-1254-81F4-CE75DAAACA22}"/>
              </a:ext>
            </a:extLst>
          </p:cNvPr>
          <p:cNvSpPr txBox="1"/>
          <p:nvPr/>
        </p:nvSpPr>
        <p:spPr>
          <a:xfrm>
            <a:off x="6761747" y="2767263"/>
            <a:ext cx="504123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DEPLOYMENT- </a:t>
            </a:r>
            <a:r>
              <a:rPr lang="en-US" sz="2800" dirty="0" err="1"/>
              <a:t>Streamlit</a:t>
            </a:r>
            <a:r>
              <a:rPr lang="en-US" sz="2800" dirty="0"/>
              <a:t>-based Web Application</a:t>
            </a: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41545087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FBA75B4-2DD5-42EB-9397-F36BFB8BA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b="1">
                <a:solidFill>
                  <a:schemeClr val="accent1"/>
                </a:solidFill>
                <a:latin typeface="Arial"/>
                <a:ea typeface="+mj-lt"/>
                <a:cs typeface="Arial"/>
              </a:rPr>
              <a:t>Result</a:t>
            </a:r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A173A3E-B9BB-CE36-9490-AC87C262F9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6926" y="1467853"/>
            <a:ext cx="7851600" cy="4416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2933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454B5-A104-4E91-C54D-3B482DB3A0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A4FECE1-4344-044E-69C6-F349CC11A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b="1">
                <a:solidFill>
                  <a:schemeClr val="accent1"/>
                </a:solidFill>
                <a:latin typeface="Arial"/>
                <a:ea typeface="+mj-lt"/>
                <a:cs typeface="Arial"/>
              </a:rPr>
              <a:t>Result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3CC7B5-5DCE-634D-D112-72AF4C9E221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831212" y="1449887"/>
            <a:ext cx="7852284" cy="4416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5198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175AF-AFFA-4D26-CFE1-5FA37A46A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D41B14E-9771-4242-5E68-7030EC224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b="1">
                <a:solidFill>
                  <a:schemeClr val="accent1"/>
                </a:solidFill>
                <a:latin typeface="Arial"/>
                <a:ea typeface="+mj-lt"/>
                <a:cs typeface="Arial"/>
              </a:rPr>
              <a:t>Result</a:t>
            </a:r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36B9B30-4C5A-6640-95F2-7E9047F6B52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696" b="5316"/>
          <a:stretch>
            <a:fillRect/>
          </a:stretch>
        </p:blipFill>
        <p:spPr>
          <a:xfrm>
            <a:off x="1731543" y="1419725"/>
            <a:ext cx="8315134" cy="4255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31644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C80A7-45F4-3B23-FA90-E08B34F65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A95A2E4-C35B-1477-383D-A3791C5C5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b="1">
                <a:solidFill>
                  <a:schemeClr val="accent1"/>
                </a:solidFill>
                <a:latin typeface="Arial"/>
                <a:ea typeface="+mj-lt"/>
                <a:cs typeface="Arial"/>
              </a:rPr>
              <a:t>Result</a:t>
            </a:r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4A158E9-7FEE-CEB5-F4ED-CB990FB2B15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846" b="5730"/>
          <a:stretch>
            <a:fillRect/>
          </a:stretch>
        </p:blipFill>
        <p:spPr>
          <a:xfrm>
            <a:off x="1700713" y="1432202"/>
            <a:ext cx="8474917" cy="4310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57612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FBA75B4-2DD5-42EB-9397-F36BFB8BA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b="1">
                <a:solidFill>
                  <a:schemeClr val="accent1"/>
                </a:solidFill>
                <a:latin typeface="Arial"/>
                <a:ea typeface="+mj-lt"/>
                <a:cs typeface="Arial"/>
              </a:rPr>
              <a:t>Conclusion</a:t>
            </a:r>
            <a:endParaRPr lang="en-US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05E46AB-32C4-4B57-A2B1-50738A64BE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1395810"/>
            <a:ext cx="11029615" cy="467332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IN" sz="2000" dirty="0"/>
              <a:t>The project successfully demonstrates the development of an AI-powered customer-support chatbot using:</a:t>
            </a:r>
          </a:p>
          <a:p>
            <a:pPr lvl="0"/>
            <a:r>
              <a:rPr lang="en-IN" sz="2000" dirty="0"/>
              <a:t>Python </a:t>
            </a:r>
          </a:p>
          <a:p>
            <a:pPr lvl="0"/>
            <a:r>
              <a:rPr lang="en-IN" sz="2000" dirty="0" err="1"/>
              <a:t>Streamlit</a:t>
            </a:r>
            <a:r>
              <a:rPr lang="en-IN" sz="2000" dirty="0"/>
              <a:t> </a:t>
            </a:r>
          </a:p>
          <a:p>
            <a:pPr lvl="0"/>
            <a:r>
              <a:rPr lang="en-IN" sz="2000" dirty="0"/>
              <a:t>Google GenAI API </a:t>
            </a:r>
          </a:p>
          <a:p>
            <a:pPr lvl="0"/>
            <a:r>
              <a:rPr lang="en-IN" sz="2000" dirty="0"/>
              <a:t>Gemini 3.6 Flash </a:t>
            </a:r>
          </a:p>
          <a:p>
            <a:pPr lvl="0"/>
            <a:r>
              <a:rPr lang="en-IN" sz="2000" dirty="0"/>
              <a:t>Conversation history </a:t>
            </a:r>
          </a:p>
          <a:p>
            <a:pPr lvl="0"/>
            <a:r>
              <a:rPr lang="en-IN" sz="2000" dirty="0"/>
              <a:t>Context-aware response generation </a:t>
            </a:r>
          </a:p>
          <a:p>
            <a:pPr lvl="0"/>
            <a:r>
              <a:rPr lang="en-IN" sz="2000" dirty="0"/>
              <a:t>Error handling and API validation </a:t>
            </a:r>
          </a:p>
          <a:p>
            <a:pPr marL="0" indent="0">
              <a:buNone/>
            </a:pPr>
            <a:r>
              <a:rPr lang="en-IN" sz="2000" dirty="0"/>
              <a:t>The system provides an interactive platform for answering common </a:t>
            </a:r>
            <a:r>
              <a:rPr lang="en-IN" sz="2000" dirty="0" err="1"/>
              <a:t>SmartMart</a:t>
            </a:r>
            <a:r>
              <a:rPr lang="en-IN" sz="2000" dirty="0"/>
              <a:t> customer-support queries while demonstrating practical applications of </a:t>
            </a:r>
            <a:r>
              <a:rPr lang="en-IN" sz="2000" b="1" dirty="0"/>
              <a:t>NLP and Generative AI</a:t>
            </a:r>
            <a:r>
              <a:rPr lang="en-IN" sz="2000" dirty="0"/>
              <a:t>.</a:t>
            </a:r>
          </a:p>
          <a:p>
            <a:pPr marL="0" indent="0">
              <a:buNone/>
            </a:pPr>
            <a:endParaRPr lang="en-IN" sz="2000" dirty="0">
              <a:solidFill>
                <a:srgbClr val="0F0F0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33151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638FD1-D00E-E75B-705C-564F06D93D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670" y="1548210"/>
            <a:ext cx="6452654" cy="4673324"/>
          </a:xfrm>
        </p:spPr>
        <p:txBody>
          <a:bodyPr>
            <a:noAutofit/>
          </a:bodyPr>
          <a:lstStyle/>
          <a:p>
            <a:pPr marL="0" indent="0">
              <a:buNone/>
            </a:pPr>
            <a:endParaRPr lang="en-IN" sz="2000" b="1" dirty="0"/>
          </a:p>
          <a:p>
            <a:pPr lvl="0"/>
            <a:r>
              <a:rPr lang="en-IN" sz="2000" dirty="0"/>
              <a:t>Connect the chatbot to a real customer/order database </a:t>
            </a:r>
          </a:p>
          <a:p>
            <a:pPr lvl="0"/>
            <a:r>
              <a:rPr lang="en-IN" sz="2000" dirty="0"/>
              <a:t>Add real-time order tracking </a:t>
            </a:r>
          </a:p>
          <a:p>
            <a:pPr lvl="0"/>
            <a:r>
              <a:rPr lang="en-IN" sz="2000" dirty="0"/>
              <a:t>Implement advanced NLP-based intent classification </a:t>
            </a:r>
          </a:p>
          <a:p>
            <a:pPr lvl="0"/>
            <a:r>
              <a:rPr lang="en-IN" sz="2000" dirty="0"/>
              <a:t>Add multilingual support </a:t>
            </a:r>
          </a:p>
          <a:p>
            <a:pPr lvl="0"/>
            <a:r>
              <a:rPr lang="en-IN" sz="2000" dirty="0"/>
              <a:t>Add voice-based customer interaction </a:t>
            </a:r>
          </a:p>
          <a:p>
            <a:pPr lvl="0"/>
            <a:r>
              <a:rPr lang="en-IN" sz="2000" dirty="0"/>
              <a:t>Introduce customer sentiment analysis </a:t>
            </a:r>
          </a:p>
          <a:p>
            <a:pPr lvl="0"/>
            <a:r>
              <a:rPr lang="en-IN" sz="2000" dirty="0"/>
              <a:t>Add human-agent escalation </a:t>
            </a:r>
          </a:p>
          <a:p>
            <a:pPr lvl="0"/>
            <a:r>
              <a:rPr lang="en-IN" sz="2000" dirty="0"/>
              <a:t>Store and </a:t>
            </a:r>
            <a:r>
              <a:rPr lang="en-IN" sz="2000" dirty="0" err="1"/>
              <a:t>analyze</a:t>
            </a:r>
            <a:r>
              <a:rPr lang="en-IN" sz="2000" dirty="0"/>
              <a:t> customer-support conversations </a:t>
            </a:r>
          </a:p>
          <a:p>
            <a:pPr lvl="0"/>
            <a:r>
              <a:rPr lang="en-IN" sz="2000" dirty="0"/>
              <a:t>Personalize responses using authorized customer information</a:t>
            </a:r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F968F13-9AC4-7120-7ACD-9F752C767D5D}"/>
              </a:ext>
            </a:extLst>
          </p:cNvPr>
          <p:cNvSpPr txBox="1">
            <a:spLocks/>
          </p:cNvSpPr>
          <p:nvPr/>
        </p:nvSpPr>
        <p:spPr>
          <a:xfrm>
            <a:off x="535670" y="844659"/>
            <a:ext cx="11029616" cy="530296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5000" lnSpcReduction="20000"/>
          </a:bodyPr>
          <a:lstStyle>
            <a:lvl1pPr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0" kern="1200" cap="all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4400" b="1">
                <a:solidFill>
                  <a:schemeClr val="accent1"/>
                </a:solidFill>
                <a:latin typeface="Arial"/>
                <a:cs typeface="Arial"/>
              </a:rPr>
              <a:t>Future scope</a:t>
            </a:r>
          </a:p>
        </p:txBody>
      </p:sp>
    </p:spTree>
    <p:extLst>
      <p:ext uri="{BB962C8B-B14F-4D97-AF65-F5344CB8AC3E}">
        <p14:creationId xmlns:p14="http://schemas.microsoft.com/office/powerpoint/2010/main" val="6148826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FBA75B4-2DD5-42EB-9397-F36BFB8BA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b="1">
                <a:solidFill>
                  <a:schemeClr val="accent1"/>
                </a:solidFill>
                <a:latin typeface="Arial"/>
                <a:ea typeface="+mj-lt"/>
                <a:cs typeface="Arial"/>
              </a:rPr>
              <a:t>References</a:t>
            </a:r>
            <a:endParaRPr lang="en-US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57C38BC-22B3-37B2-E0C3-812020A760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2400" dirty="0"/>
              <a:t>IBM BOB </a:t>
            </a:r>
          </a:p>
          <a:p>
            <a:pPr lvl="0"/>
            <a:r>
              <a:rPr lang="en-IN" sz="2400" dirty="0"/>
              <a:t>Google Gemini / Google GenAI API </a:t>
            </a:r>
          </a:p>
          <a:p>
            <a:pPr lvl="0"/>
            <a:r>
              <a:rPr lang="en-IN" sz="2400" dirty="0"/>
              <a:t>Gemini 3.6 Flash </a:t>
            </a:r>
          </a:p>
          <a:p>
            <a:pPr lvl="0"/>
            <a:r>
              <a:rPr lang="en-IN" sz="2400" dirty="0" err="1"/>
              <a:t>Streamlit</a:t>
            </a:r>
            <a:r>
              <a:rPr lang="en-IN" sz="2400" dirty="0"/>
              <a:t> Documentation </a:t>
            </a:r>
          </a:p>
          <a:p>
            <a:pPr lvl="0"/>
            <a:r>
              <a:rPr lang="en-IN" sz="2400" dirty="0"/>
              <a:t>Python Documentation </a:t>
            </a:r>
          </a:p>
          <a:p>
            <a:pPr lvl="0"/>
            <a:r>
              <a:rPr lang="en-IN" sz="2400" dirty="0"/>
              <a:t>python-</a:t>
            </a:r>
            <a:r>
              <a:rPr lang="en-IN" sz="2400" dirty="0" err="1"/>
              <a:t>dotenv</a:t>
            </a:r>
            <a:r>
              <a:rPr lang="en-IN" sz="2400" dirty="0"/>
              <a:t> Documentation </a:t>
            </a:r>
          </a:p>
          <a:p>
            <a:pPr marL="305435" indent="-305435"/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7289502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D7422-ED9D-D856-C6AD-0F1A715C2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Deployment link / </a:t>
            </a:r>
            <a:r>
              <a:rPr lang="en-IN" err="1"/>
              <a:t>github</a:t>
            </a:r>
            <a:r>
              <a:rPr lang="en-IN"/>
              <a:t> link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8C47C2-EF01-12B0-99EA-861F9629D1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506" y="1606826"/>
            <a:ext cx="11029615" cy="1933543"/>
          </a:xfrm>
        </p:spPr>
        <p:txBody>
          <a:bodyPr>
            <a:normAutofit/>
          </a:bodyPr>
          <a:lstStyle/>
          <a:p>
            <a:pPr marL="305435" indent="-305435"/>
            <a:r>
              <a:rPr lang="en-IN" sz="2400" dirty="0" err="1"/>
              <a:t>Github</a:t>
            </a:r>
            <a:r>
              <a:rPr lang="en-IN" sz="2400" dirty="0"/>
              <a:t> Link: </a:t>
            </a:r>
            <a:r>
              <a:rPr lang="en-IN" sz="2400" dirty="0">
                <a:hlinkClick r:id="rId2"/>
              </a:rPr>
              <a:t>https://github.com/ruprekhabiswas3-code/Smart-Customer-Support-Chatbot.git</a:t>
            </a:r>
            <a:r>
              <a:rPr lang="en-IN" sz="2400" dirty="0"/>
              <a:t> </a:t>
            </a:r>
          </a:p>
          <a:p>
            <a:pPr marL="305435" indent="-305435"/>
            <a:r>
              <a:rPr lang="en-IN" sz="2400" dirty="0" err="1"/>
              <a:t>Streamlit</a:t>
            </a:r>
            <a:r>
              <a:rPr lang="en-IN" sz="2400" dirty="0"/>
              <a:t> Link</a:t>
            </a:r>
            <a:r>
              <a:rPr lang="en-IN" sz="2400"/>
              <a:t>: </a:t>
            </a:r>
            <a:r>
              <a:rPr lang="en-IN" sz="2400">
                <a:hlinkClick r:id="rId3"/>
              </a:rPr>
              <a:t>http://localhost:8503/</a:t>
            </a:r>
            <a:r>
              <a:rPr lang="en-IN" sz="2400"/>
              <a:t> 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588529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BE4CA82-64EC-4D4E-A5E5-3EBB66E7B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3041" y="2766218"/>
            <a:ext cx="9298744" cy="1325563"/>
          </a:xfrm>
        </p:spPr>
        <p:txBody>
          <a:bodyPr/>
          <a:lstStyle/>
          <a:p>
            <a:pPr algn="ctr"/>
            <a:r>
              <a:rPr lang="en-US" b="1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4066255318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VTI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9162bd5b-4ed9-4da3-b376-05204580ba3f" xsi:nil="true"/>
    <_activity xmlns="9162bd5b-4ed9-4da3-b376-05204580ba3f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F1872188ABCFC48BECA6C87E8AC3285" ma:contentTypeVersion="17" ma:contentTypeDescription="Create a new document." ma:contentTypeScope="" ma:versionID="55a158675e089c6a85ab0f83b89e1a15">
  <xsd:schema xmlns:xsd="http://www.w3.org/2001/XMLSchema" xmlns:xs="http://www.w3.org/2001/XMLSchema" xmlns:p="http://schemas.microsoft.com/office/2006/metadata/properties" xmlns:ns3="9162bd5b-4ed9-4da3-b376-05204580ba3f" xmlns:ns4="c0fa2617-96bd-425d-8578-e93563fe37c5" targetNamespace="http://schemas.microsoft.com/office/2006/metadata/properties" ma:root="true" ma:fieldsID="b35f082308864fa161c4a0a9eca35eff" ns3:_="" ns4:_="">
    <xsd:import namespace="9162bd5b-4ed9-4da3-b376-05204580ba3f"/>
    <xsd:import namespace="c0fa2617-96bd-425d-8578-e93563fe37c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LengthInSeconds" minOccurs="0"/>
                <xsd:element ref="ns3:MediaServiceLocation" minOccurs="0"/>
                <xsd:element ref="ns3:_activity" minOccurs="0"/>
                <xsd:element ref="ns3:MediaServiceObjectDetectorVersion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62bd5b-4ed9-4da3-b376-05204580ba3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9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MediaServiceLocation" ma:index="21" nillable="true" ma:displayName="Location" ma:internalName="MediaServiceLocation" ma:readOnly="true">
      <xsd:simpleType>
        <xsd:restriction base="dms:Text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  <xsd:element name="MediaServiceObjectDetectorVersions" ma:index="23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4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0fa2617-96bd-425d-8578-e93563fe37c5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D289AE2-D2AE-49D1-AFAC-3A79F6794255}">
  <ds:schemaRefs>
    <ds:schemaRef ds:uri="9162bd5b-4ed9-4da3-b376-05204580ba3f"/>
    <ds:schemaRef ds:uri="c0fa2617-96bd-425d-8578-e93563fe37c5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927BD4C1-B6B1-4715-ABF9-E660A51A4EA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E816721-11E4-4989-8472-AB5A7EC20404}">
  <ds:schemaRefs>
    <ds:schemaRef ds:uri="9162bd5b-4ed9-4da3-b376-05204580ba3f"/>
    <ds:schemaRef ds:uri="c0fa2617-96bd-425d-8578-e93563fe37c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Future forward</Template>
  <TotalTime>3329</TotalTime>
  <Words>453</Words>
  <Application>Microsoft Office PowerPoint</Application>
  <PresentationFormat>Widescreen</PresentationFormat>
  <Paragraphs>81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Arial</vt:lpstr>
      <vt:lpstr>Calibri</vt:lpstr>
      <vt:lpstr>Calibri Light</vt:lpstr>
      <vt:lpstr>Franklin Gothic Book</vt:lpstr>
      <vt:lpstr>Franklin Gothic Demi</vt:lpstr>
      <vt:lpstr>Wingdings 2</vt:lpstr>
      <vt:lpstr>DividendVTI</vt:lpstr>
      <vt:lpstr>Smart Customer Support Chatbot PROJECT DOMAIN: Natural Language Processing (NLP) + Generative AI  PROJECT TYPE: NLP + LLM + Web Application </vt:lpstr>
      <vt:lpstr>OUTLINE</vt:lpstr>
      <vt:lpstr>Problem Statement</vt:lpstr>
      <vt:lpstr>Proposed Solution</vt:lpstr>
      <vt:lpstr>System  Approach</vt:lpstr>
      <vt:lpstr>Algorithm &amp; Deployment</vt:lpstr>
      <vt:lpstr>Result</vt:lpstr>
      <vt:lpstr>Result</vt:lpstr>
      <vt:lpstr>Result</vt:lpstr>
      <vt:lpstr>Result</vt:lpstr>
      <vt:lpstr>Conclusion</vt:lpstr>
      <vt:lpstr>PowerPoint Presentation</vt:lpstr>
      <vt:lpstr>References</vt:lpstr>
      <vt:lpstr>Deployment link / github link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SkillsBuild Partner Update template</dc:title>
  <dc:creator>Vaibhav Ostwal</dc:creator>
  <cp:lastModifiedBy>Ruprekha Biswas</cp:lastModifiedBy>
  <cp:revision>5</cp:revision>
  <dcterms:created xsi:type="dcterms:W3CDTF">2021-05-26T16:50:10Z</dcterms:created>
  <dcterms:modified xsi:type="dcterms:W3CDTF">2026-09-12T14:18:09Z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0x0101000F1872188ABCFC48BECA6C87E8AC3285</vt:lpwstr>
  </property>
</Properties>
</file>